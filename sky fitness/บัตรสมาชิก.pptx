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95AD"/>
    <a:srgbClr val="748397"/>
    <a:srgbClr val="8497B0"/>
    <a:srgbClr val="2D3A49"/>
    <a:srgbClr val="83161A"/>
    <a:srgbClr val="FFFFFF"/>
    <a:srgbClr val="0070C0"/>
    <a:srgbClr val="44546A"/>
    <a:srgbClr val="CC9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9" d="100"/>
          <a:sy n="59" d="100"/>
        </p:scale>
        <p:origin x="88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A30364B-5B03-937A-F393-38DA2CF1A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16EC45BF-8793-8D58-0C70-4AAD2A72F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22C32C5-07AD-C6D4-6DA1-CC14B62F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E155AEF-927C-B9F9-29DA-59BCB034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CDA0058-4FE6-356A-1102-2A9AE4A0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551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8A11D3A-20CB-4C32-15A2-B1B11182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5B9A58F-FD4B-D2E6-7563-054E63BDB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1AA8497-E5BA-96BC-27CC-3EEED72C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299005E-1A1D-9230-8258-035C1D72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AAAE2E65-6CEB-1393-5572-57384A0F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433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1E46B2-12B5-F040-335D-1CB7E7AD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88A6778-F162-8CAE-AC2B-934C4BFF3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2169F4D-D071-5835-9159-6922F0FE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8BBC8F2-4E47-9220-0B5A-4DCDBB88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77B2924-7763-3B58-84C8-298E9DA1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6317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104007B-7336-1EEB-2F61-58D15584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42010EFA-2F88-689D-61D9-FC9DB2196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A59497CB-B11A-A648-DC6A-A244AE7C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3A3632E6-7BCF-E87B-3E87-991E057C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0AAD045-582A-E727-0F8A-26E4010C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DD13B63F-A0AC-5D3D-CB61-45E426A3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9005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D25E832-9805-EF28-4A67-4B2DE50F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B94CD7B8-5652-469B-68C9-99F8B0157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31CB0C71-DC68-003D-B350-D97957F83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4C7D6F7A-8877-554E-49EA-4DDF9B702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634484B-E259-258E-DAF7-E946C87D7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FDCF30B2-BDAC-A3EA-E97E-D79E7258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4E1B5F6D-FEE4-B8E5-530D-40CB0D12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52E57D48-06D8-19DA-EDA7-BCA12D61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822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8DEFBEF-8541-DA4D-B1E1-2FA5ECC0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3CC9561C-4FD4-FC0D-3155-11CEB730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A0682876-CE00-CDD6-0B90-A2679B0A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07496AA-17C6-B2B8-B5A9-A1B81CDF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4619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A16C2E85-9DFB-996C-71AD-FC658278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C48F7C0C-70F2-A1E1-4F9C-606F8A959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8619939-400A-0822-C51A-B2BD7F61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443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C15303F-ED81-0894-3628-492E3052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BA6CE5F-6BBF-AF48-681D-9E4A13B1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04F35C66-530A-183D-51B3-A4504C1AB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034D93A3-2523-5C3C-D003-9E03A8AC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8D81C38-B1DF-33F4-D897-83C916FC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0A6CE89F-9D98-34FC-BAFF-3A58C3A1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7509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0C7902C-6B9D-17F7-C616-FAFD52FF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AA1C6577-57A9-6CBD-50DB-2B95CCCB2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9A76E734-B643-8A8B-3185-0B7F099F1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BF54335B-806D-220E-6FBE-3F82A7B1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3C65E295-DB90-FA7B-4A42-83401ACE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A8D01B7-73DF-2F67-55E9-9546BE0E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62189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0F7A539-50CB-5253-4079-32E87104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0A872DFD-61B2-0E55-E72D-DEAAADD13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410220A-2B93-2C0C-94C5-D6566419D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7954CEB-30FF-7AD2-C82E-659BCF26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A5C1DA2-A350-1692-187D-65ADE6DC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10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DDCE4B3A-EF87-578B-79FB-0ED6A58CD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6B02890A-529E-276B-7CEA-3C83C6356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536DE5B-FCEE-5FB1-2BF9-E0CB2D9E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E56661F-A550-9F33-A149-D701740E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3CF10FF-F8F0-CFA2-73F2-4BB0A330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9406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9A02A1CE-68AB-A8E1-C745-CA557BCD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5036EF6-1965-3198-C0F3-482287784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53F03AB-A86D-6B9C-7F93-F241A94C4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6FA7B-C779-4B63-A768-FA87EF21778D}" type="datetimeFigureOut">
              <a:rPr lang="th-TH" smtClean="0"/>
              <a:t>03/10/66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48F7FAC-C96E-8D90-6288-13BA0FA72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B6BC0E4-C37A-278D-1A5D-92045315E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E35A-CAE7-4444-A3A0-2BB71F6A69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6768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8DF46CB-34D7-35E0-1914-0FB4B6727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004" y="215025"/>
            <a:ext cx="5728996" cy="531424"/>
          </a:xfrm>
        </p:spPr>
        <p:txBody>
          <a:bodyPr>
            <a:noAutofit/>
          </a:bodyPr>
          <a:lstStyle/>
          <a:p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บัตรเชิญ สำหรับข้าราชการที่เกษียณฯ แล้ว</a:t>
            </a: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BB399571-24E1-450F-4018-391D0A6D7156}"/>
              </a:ext>
            </a:extLst>
          </p:cNvPr>
          <p:cNvSpPr/>
          <p:nvPr/>
        </p:nvSpPr>
        <p:spPr>
          <a:xfrm rot="5400000">
            <a:off x="976502" y="1590450"/>
            <a:ext cx="5649685" cy="4250094"/>
          </a:xfrm>
          <a:prstGeom prst="rect">
            <a:avLst/>
          </a:prstGeom>
          <a:solidFill>
            <a:srgbClr val="8497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02B3D71-CC12-ABD3-FE1B-53FBD4BAA0F0}"/>
              </a:ext>
            </a:extLst>
          </p:cNvPr>
          <p:cNvSpPr/>
          <p:nvPr/>
        </p:nvSpPr>
        <p:spPr>
          <a:xfrm rot="5400000">
            <a:off x="5463075" y="1590449"/>
            <a:ext cx="5649685" cy="4250094"/>
          </a:xfrm>
          <a:prstGeom prst="rect">
            <a:avLst/>
          </a:prstGeom>
          <a:solidFill>
            <a:srgbClr val="8497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7" name="รูปภาพ 16">
            <a:extLst>
              <a:ext uri="{FF2B5EF4-FFF2-40B4-BE49-F238E27FC236}">
                <a16:creationId xmlns:a16="http://schemas.microsoft.com/office/drawing/2014/main" id="{ED24786E-6CB1-884F-FF7E-758BE03A34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2" b="9212"/>
          <a:stretch/>
        </p:blipFill>
        <p:spPr>
          <a:xfrm>
            <a:off x="6786691" y="4070339"/>
            <a:ext cx="3149400" cy="1897008"/>
          </a:xfrm>
          <a:prstGeom prst="rect">
            <a:avLst/>
          </a:prstGeom>
          <a:ln>
            <a:noFill/>
          </a:ln>
          <a:effectLst>
            <a:outerShdw blurRad="292100" dir="120000" sx="80000" sy="80000" algn="tl" rotWithShape="0">
              <a:srgbClr val="333333">
                <a:alpha val="47000"/>
              </a:srgbClr>
            </a:outerShdw>
          </a:effectLst>
        </p:spPr>
      </p:pic>
      <p:cxnSp>
        <p:nvCxnSpPr>
          <p:cNvPr id="19" name="ตัวเชื่อมต่อตรง 18">
            <a:extLst>
              <a:ext uri="{FF2B5EF4-FFF2-40B4-BE49-F238E27FC236}">
                <a16:creationId xmlns:a16="http://schemas.microsoft.com/office/drawing/2014/main" id="{CE70FC2E-1CEC-9E0C-0592-E032963E5BE9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V="1">
            <a:off x="1676298" y="3715497"/>
            <a:ext cx="8736667" cy="1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ลายทแยงมุม 24">
            <a:extLst>
              <a:ext uri="{FF2B5EF4-FFF2-40B4-BE49-F238E27FC236}">
                <a16:creationId xmlns:a16="http://schemas.microsoft.com/office/drawing/2014/main" id="{E4F730AF-F5D0-E4A0-0C72-B51CEBDBDFC8}"/>
              </a:ext>
            </a:extLst>
          </p:cNvPr>
          <p:cNvSpPr/>
          <p:nvPr/>
        </p:nvSpPr>
        <p:spPr>
          <a:xfrm>
            <a:off x="6659524" y="3938958"/>
            <a:ext cx="572694" cy="529459"/>
          </a:xfrm>
          <a:prstGeom prst="diagStripe">
            <a:avLst>
              <a:gd name="adj" fmla="val 43259"/>
            </a:avLst>
          </a:prstGeom>
          <a:solidFill>
            <a:srgbClr val="8295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26" name="ลายทแยงมุม 25">
            <a:extLst>
              <a:ext uri="{FF2B5EF4-FFF2-40B4-BE49-F238E27FC236}">
                <a16:creationId xmlns:a16="http://schemas.microsoft.com/office/drawing/2014/main" id="{002A705B-34AC-3134-58E5-E5B01D11AAA1}"/>
              </a:ext>
            </a:extLst>
          </p:cNvPr>
          <p:cNvSpPr/>
          <p:nvPr/>
        </p:nvSpPr>
        <p:spPr>
          <a:xfrm rot="10640731">
            <a:off x="9389814" y="5409227"/>
            <a:ext cx="654449" cy="715370"/>
          </a:xfrm>
          <a:prstGeom prst="diagStripe">
            <a:avLst>
              <a:gd name="adj" fmla="val 32025"/>
            </a:avLst>
          </a:prstGeom>
          <a:solidFill>
            <a:srgbClr val="8497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cxnSp>
        <p:nvCxnSpPr>
          <p:cNvPr id="28" name="ตัวเชื่อมต่อตรง 27">
            <a:extLst>
              <a:ext uri="{FF2B5EF4-FFF2-40B4-BE49-F238E27FC236}">
                <a16:creationId xmlns:a16="http://schemas.microsoft.com/office/drawing/2014/main" id="{65EAE7A6-E149-4B11-85FA-71D71DE274DF}"/>
              </a:ext>
            </a:extLst>
          </p:cNvPr>
          <p:cNvCxnSpPr>
            <a:cxnSpLocks/>
          </p:cNvCxnSpPr>
          <p:nvPr/>
        </p:nvCxnSpPr>
        <p:spPr>
          <a:xfrm flipV="1">
            <a:off x="9561350" y="5642349"/>
            <a:ext cx="324997" cy="324997"/>
          </a:xfrm>
          <a:prstGeom prst="line">
            <a:avLst/>
          </a:prstGeom>
          <a:ln>
            <a:solidFill>
              <a:srgbClr val="8497B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รูปภาพ 33">
            <a:extLst>
              <a:ext uri="{FF2B5EF4-FFF2-40B4-BE49-F238E27FC236}">
                <a16:creationId xmlns:a16="http://schemas.microsoft.com/office/drawing/2014/main" id="{23135DA6-B07D-5487-E532-C14867510B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9" t="-587" r="7923" b="20910"/>
          <a:stretch/>
        </p:blipFill>
        <p:spPr>
          <a:xfrm>
            <a:off x="2678659" y="4078659"/>
            <a:ext cx="2256907" cy="1200528"/>
          </a:xfrm>
          <a:prstGeom prst="rect">
            <a:avLst/>
          </a:prstGeom>
        </p:spPr>
      </p:pic>
      <p:sp>
        <p:nvSpPr>
          <p:cNvPr id="35" name="กล่องข้อความ 34">
            <a:extLst>
              <a:ext uri="{FF2B5EF4-FFF2-40B4-BE49-F238E27FC236}">
                <a16:creationId xmlns:a16="http://schemas.microsoft.com/office/drawing/2014/main" id="{84371F0D-5E0E-127F-6135-D952884FBFEF}"/>
              </a:ext>
            </a:extLst>
          </p:cNvPr>
          <p:cNvSpPr txBox="1"/>
          <p:nvPr/>
        </p:nvSpPr>
        <p:spPr>
          <a:xfrm>
            <a:off x="2120975" y="5432296"/>
            <a:ext cx="3419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3161A"/>
                </a:solidFill>
                <a:latin typeface="LINE Seed Sans TH Heavy" panose="020B0303020203020204" pitchFamily="34" charset="-34"/>
                <a:ea typeface="LINE Seed Sans TH Heavy" panose="020B0303020203020204" pitchFamily="34" charset="-34"/>
                <a:cs typeface="LINE Seed Sans TH Heavy" panose="020B0303020203020204" pitchFamily="34" charset="-34"/>
              </a:rPr>
              <a:t>SKY FITNESS</a:t>
            </a:r>
            <a:endParaRPr lang="th-TH" sz="3200" dirty="0">
              <a:solidFill>
                <a:srgbClr val="83161A"/>
              </a:solidFill>
              <a:latin typeface="LINE Seed Sans TH Heavy" panose="020B0303020203020204" pitchFamily="34" charset="-34"/>
              <a:ea typeface="LINE Seed Sans TH Heavy" panose="020B0303020203020204" pitchFamily="34" charset="-34"/>
              <a:cs typeface="LINE Seed Sans TH Heavy" panose="020B0303020203020204" pitchFamily="34" charset="-34"/>
            </a:endParaRPr>
          </a:p>
        </p:txBody>
      </p:sp>
      <p:cxnSp>
        <p:nvCxnSpPr>
          <p:cNvPr id="37" name="ตัวเชื่อมต่อตรง 36">
            <a:extLst>
              <a:ext uri="{FF2B5EF4-FFF2-40B4-BE49-F238E27FC236}">
                <a16:creationId xmlns:a16="http://schemas.microsoft.com/office/drawing/2014/main" id="{0BC71944-2606-3BED-8B69-7F9B22C7DE77}"/>
              </a:ext>
            </a:extLst>
          </p:cNvPr>
          <p:cNvCxnSpPr/>
          <p:nvPr/>
        </p:nvCxnSpPr>
        <p:spPr>
          <a:xfrm>
            <a:off x="2120975" y="5356544"/>
            <a:ext cx="3357602" cy="0"/>
          </a:xfrm>
          <a:prstGeom prst="line">
            <a:avLst/>
          </a:prstGeom>
          <a:ln w="76200" cap="rnd">
            <a:gradFill flip="none" rotWithShape="1">
              <a:gsLst>
                <a:gs pos="0">
                  <a:srgbClr val="2D3A49"/>
                </a:gs>
                <a:gs pos="100000">
                  <a:srgbClr val="83161A"/>
                </a:gs>
              </a:gsLst>
              <a:path path="circle">
                <a:fillToRect l="100000" t="100000"/>
              </a:path>
              <a:tileRect r="-100000" b="-10000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กลุ่ม 45">
            <a:extLst>
              <a:ext uri="{FF2B5EF4-FFF2-40B4-BE49-F238E27FC236}">
                <a16:creationId xmlns:a16="http://schemas.microsoft.com/office/drawing/2014/main" id="{F3B0AD1B-B178-C81C-3AF6-005C3D8E47E9}"/>
              </a:ext>
            </a:extLst>
          </p:cNvPr>
          <p:cNvGrpSpPr/>
          <p:nvPr/>
        </p:nvGrpSpPr>
        <p:grpSpPr>
          <a:xfrm>
            <a:off x="6659524" y="943586"/>
            <a:ext cx="3419532" cy="988502"/>
            <a:chOff x="6659524" y="943586"/>
            <a:chExt cx="3419532" cy="988502"/>
          </a:xfrm>
        </p:grpSpPr>
        <p:grpSp>
          <p:nvGrpSpPr>
            <p:cNvPr id="43" name="กลุ่ม 42">
              <a:extLst>
                <a:ext uri="{FF2B5EF4-FFF2-40B4-BE49-F238E27FC236}">
                  <a16:creationId xmlns:a16="http://schemas.microsoft.com/office/drawing/2014/main" id="{0F4A0C9B-093C-4EEE-1F4B-C122B297E5A2}"/>
                </a:ext>
              </a:extLst>
            </p:cNvPr>
            <p:cNvGrpSpPr/>
            <p:nvPr/>
          </p:nvGrpSpPr>
          <p:grpSpPr>
            <a:xfrm>
              <a:off x="6659524" y="1593534"/>
              <a:ext cx="3419532" cy="338554"/>
              <a:chOff x="6651625" y="1044592"/>
              <a:chExt cx="3419532" cy="338554"/>
            </a:xfrm>
          </p:grpSpPr>
          <p:sp>
            <p:nvSpPr>
              <p:cNvPr id="38" name="กล่องข้อความ 37">
                <a:extLst>
                  <a:ext uri="{FF2B5EF4-FFF2-40B4-BE49-F238E27FC236}">
                    <a16:creationId xmlns:a16="http://schemas.microsoft.com/office/drawing/2014/main" id="{DDD3DD93-C09F-B1B5-D735-3CCE8307EBA0}"/>
                  </a:ext>
                </a:extLst>
              </p:cNvPr>
              <p:cNvSpPr txBox="1"/>
              <p:nvPr/>
            </p:nvSpPr>
            <p:spPr>
              <a:xfrm>
                <a:off x="6651625" y="1044592"/>
                <a:ext cx="34195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83161A"/>
                    </a:solidFill>
                    <a:latin typeface="LINE Seed Sans TH Heavy" panose="020B0303020203020204" pitchFamily="34" charset="-34"/>
                    <a:ea typeface="LINE Seed Sans TH Heavy" panose="020B0303020203020204" pitchFamily="34" charset="-34"/>
                    <a:cs typeface="LINE Seed Sans TH Heavy" panose="020B0303020203020204" pitchFamily="34" charset="-34"/>
                  </a:rPr>
                  <a:t>SKY FITNESS</a:t>
                </a:r>
                <a:endParaRPr lang="th-TH" sz="1600" dirty="0">
                  <a:solidFill>
                    <a:srgbClr val="83161A"/>
                  </a:solidFill>
                  <a:latin typeface="LINE Seed Sans TH Heavy" panose="020B0303020203020204" pitchFamily="34" charset="-34"/>
                  <a:ea typeface="LINE Seed Sans TH Heavy" panose="020B0303020203020204" pitchFamily="34" charset="-34"/>
                  <a:cs typeface="LINE Seed Sans TH Heavy" panose="020B0303020203020204" pitchFamily="34" charset="-34"/>
                </a:endParaRPr>
              </a:p>
            </p:txBody>
          </p:sp>
          <p:cxnSp>
            <p:nvCxnSpPr>
              <p:cNvPr id="39" name="ตัวเชื่อมต่อตรง 38">
                <a:extLst>
                  <a:ext uri="{FF2B5EF4-FFF2-40B4-BE49-F238E27FC236}">
                    <a16:creationId xmlns:a16="http://schemas.microsoft.com/office/drawing/2014/main" id="{32B11F21-2EF7-5C83-D3B9-85AB6BCCA20C}"/>
                  </a:ext>
                </a:extLst>
              </p:cNvPr>
              <p:cNvCxnSpPr/>
              <p:nvPr/>
            </p:nvCxnSpPr>
            <p:spPr>
              <a:xfrm>
                <a:off x="6651625" y="1329252"/>
                <a:ext cx="3357602" cy="0"/>
              </a:xfrm>
              <a:prstGeom prst="line">
                <a:avLst/>
              </a:prstGeom>
              <a:ln w="28575" cap="rnd">
                <a:gradFill flip="none" rotWithShape="1">
                  <a:gsLst>
                    <a:gs pos="0">
                      <a:srgbClr val="2D3A49"/>
                    </a:gs>
                    <a:gs pos="100000">
                      <a:srgbClr val="83161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4" name="รูปภาพ 43">
              <a:extLst>
                <a:ext uri="{FF2B5EF4-FFF2-40B4-BE49-F238E27FC236}">
                  <a16:creationId xmlns:a16="http://schemas.microsoft.com/office/drawing/2014/main" id="{54102323-92EB-D1AD-7F99-52FC23E32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4242" y="943586"/>
              <a:ext cx="738278" cy="573574"/>
            </a:xfrm>
            <a:prstGeom prst="rect">
              <a:avLst/>
            </a:prstGeom>
          </p:spPr>
        </p:pic>
      </p:grpSp>
      <p:sp>
        <p:nvSpPr>
          <p:cNvPr id="47" name="กล่องข้อความ 46">
            <a:extLst>
              <a:ext uri="{FF2B5EF4-FFF2-40B4-BE49-F238E27FC236}">
                <a16:creationId xmlns:a16="http://schemas.microsoft.com/office/drawing/2014/main" id="{401C0088-B9AE-BC32-8FBF-6D489743992E}"/>
              </a:ext>
            </a:extLst>
          </p:cNvPr>
          <p:cNvSpPr txBox="1"/>
          <p:nvPr/>
        </p:nvSpPr>
        <p:spPr>
          <a:xfrm>
            <a:off x="6659524" y="1932088"/>
            <a:ext cx="335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ข้อความนำเรียน</a:t>
            </a:r>
          </a:p>
        </p:txBody>
      </p:sp>
    </p:spTree>
    <p:extLst>
      <p:ext uri="{BB962C8B-B14F-4D97-AF65-F5344CB8AC3E}">
        <p14:creationId xmlns:p14="http://schemas.microsoft.com/office/powerpoint/2010/main" val="77877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สี่เหลี่ยมผืนผ้า: มุมมน 38">
            <a:extLst>
              <a:ext uri="{FF2B5EF4-FFF2-40B4-BE49-F238E27FC236}">
                <a16:creationId xmlns:a16="http://schemas.microsoft.com/office/drawing/2014/main" id="{7C135F39-86BB-1E0C-B1F7-80DEBD7461E4}"/>
              </a:ext>
            </a:extLst>
          </p:cNvPr>
          <p:cNvSpPr/>
          <p:nvPr/>
        </p:nvSpPr>
        <p:spPr>
          <a:xfrm>
            <a:off x="1063258" y="457181"/>
            <a:ext cx="8282762" cy="850498"/>
          </a:xfrm>
          <a:prstGeom prst="roundRect">
            <a:avLst/>
          </a:prstGeom>
          <a:gradFill flip="none" rotWithShape="1">
            <a:gsLst>
              <a:gs pos="0">
                <a:srgbClr val="2D3A49"/>
              </a:gs>
              <a:gs pos="100000">
                <a:srgbClr val="83161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ชื่อเรื่องรอง 2">
            <a:extLst>
              <a:ext uri="{FF2B5EF4-FFF2-40B4-BE49-F238E27FC236}">
                <a16:creationId xmlns:a16="http://schemas.microsoft.com/office/drawing/2014/main" id="{5E9EE092-3C65-0DED-552C-F883F0D1A670}"/>
              </a:ext>
            </a:extLst>
          </p:cNvPr>
          <p:cNvSpPr txBox="1">
            <a:spLocks/>
          </p:cNvSpPr>
          <p:nvPr/>
        </p:nvSpPr>
        <p:spPr>
          <a:xfrm>
            <a:off x="1976424" y="617364"/>
            <a:ext cx="7070652" cy="56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บัตรสมาชิกประเภท น.5 ถึง นายพลอากาศ</a:t>
            </a:r>
          </a:p>
        </p:txBody>
      </p:sp>
      <p:pic>
        <p:nvPicPr>
          <p:cNvPr id="22" name="รูปภาพ 21">
            <a:extLst>
              <a:ext uri="{FF2B5EF4-FFF2-40B4-BE49-F238E27FC236}">
                <a16:creationId xmlns:a16="http://schemas.microsoft.com/office/drawing/2014/main" id="{73B131CF-D3D9-81FC-A872-7105F10B9A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36"/>
          <a:stretch/>
        </p:blipFill>
        <p:spPr>
          <a:xfrm>
            <a:off x="8201558" y="2994355"/>
            <a:ext cx="2701308" cy="1194319"/>
          </a:xfrm>
          <a:prstGeom prst="rect">
            <a:avLst/>
          </a:prstGeom>
        </p:spPr>
      </p:pic>
      <p:sp>
        <p:nvSpPr>
          <p:cNvPr id="7" name="ชื่อเรื่องรอง 2">
            <a:extLst>
              <a:ext uri="{FF2B5EF4-FFF2-40B4-BE49-F238E27FC236}">
                <a16:creationId xmlns:a16="http://schemas.microsoft.com/office/drawing/2014/main" id="{C1B431DF-41A1-757F-5962-A4CB869BDE30}"/>
              </a:ext>
            </a:extLst>
          </p:cNvPr>
          <p:cNvSpPr txBox="1">
            <a:spLocks/>
          </p:cNvSpPr>
          <p:nvPr/>
        </p:nvSpPr>
        <p:spPr>
          <a:xfrm>
            <a:off x="1673724" y="2145374"/>
            <a:ext cx="1928327" cy="33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ด้านหน้าบัตร</a:t>
            </a:r>
          </a:p>
        </p:txBody>
      </p:sp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2B318EEE-F866-A633-9021-FA6E9F11C6F6}"/>
              </a:ext>
            </a:extLst>
          </p:cNvPr>
          <p:cNvGrpSpPr/>
          <p:nvPr/>
        </p:nvGrpSpPr>
        <p:grpSpPr>
          <a:xfrm>
            <a:off x="218149" y="2779854"/>
            <a:ext cx="5691673" cy="3442997"/>
            <a:chOff x="218149" y="2779854"/>
            <a:chExt cx="5691673" cy="3442997"/>
          </a:xfrm>
        </p:grpSpPr>
        <p:sp>
          <p:nvSpPr>
            <p:cNvPr id="5" name="สี่เหลี่ยมผืนผ้า: มุมมน 4">
              <a:extLst>
                <a:ext uri="{FF2B5EF4-FFF2-40B4-BE49-F238E27FC236}">
                  <a16:creationId xmlns:a16="http://schemas.microsoft.com/office/drawing/2014/main" id="{9C5D75A9-BE59-3DEC-9322-31317657E5D8}"/>
                </a:ext>
              </a:extLst>
            </p:cNvPr>
            <p:cNvSpPr/>
            <p:nvPr/>
          </p:nvSpPr>
          <p:spPr>
            <a:xfrm>
              <a:off x="218149" y="2779855"/>
              <a:ext cx="5691673" cy="3442996"/>
            </a:xfrm>
            <a:prstGeom prst="roundRect">
              <a:avLst>
                <a:gd name="adj" fmla="val 7182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pic>
          <p:nvPicPr>
            <p:cNvPr id="13" name="รูปภาพ 12">
              <a:extLst>
                <a:ext uri="{FF2B5EF4-FFF2-40B4-BE49-F238E27FC236}">
                  <a16:creationId xmlns:a16="http://schemas.microsoft.com/office/drawing/2014/main" id="{0F094F4A-36D7-E145-D023-CE7F8E8648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9" t="-587" r="7923" b="20910"/>
            <a:stretch/>
          </p:blipFill>
          <p:spPr>
            <a:xfrm>
              <a:off x="1935531" y="3237288"/>
              <a:ext cx="2256907" cy="1200528"/>
            </a:xfrm>
            <a:prstGeom prst="rect">
              <a:avLst/>
            </a:prstGeom>
          </p:spPr>
        </p:pic>
        <p:pic>
          <p:nvPicPr>
            <p:cNvPr id="20" name="รูปภาพ 19">
              <a:extLst>
                <a:ext uri="{FF2B5EF4-FFF2-40B4-BE49-F238E27FC236}">
                  <a16:creationId xmlns:a16="http://schemas.microsoft.com/office/drawing/2014/main" id="{CD581AB3-D675-4467-DEF4-22BF4F45B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127" y="2779854"/>
              <a:ext cx="961368" cy="746895"/>
            </a:xfrm>
            <a:prstGeom prst="rect">
              <a:avLst/>
            </a:prstGeom>
          </p:spPr>
        </p:pic>
        <p:sp>
          <p:nvSpPr>
            <p:cNvPr id="23" name="กล่องข้อความ 22">
              <a:extLst>
                <a:ext uri="{FF2B5EF4-FFF2-40B4-BE49-F238E27FC236}">
                  <a16:creationId xmlns:a16="http://schemas.microsoft.com/office/drawing/2014/main" id="{FEE19513-5B97-DD89-99E3-0EF510118AED}"/>
                </a:ext>
              </a:extLst>
            </p:cNvPr>
            <p:cNvSpPr txBox="1"/>
            <p:nvPr/>
          </p:nvSpPr>
          <p:spPr>
            <a:xfrm>
              <a:off x="218150" y="5540455"/>
              <a:ext cx="21933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สถานภาพสมาชิก	      </a:t>
              </a:r>
              <a: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 </a:t>
              </a:r>
              <a:endParaRPr lang="th-TH" sz="1800" dirty="0"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endParaRPr>
            </a:p>
            <a:p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ตำแหน่งก่อนเกษียณฯ</a:t>
              </a:r>
            </a:p>
          </p:txBody>
        </p:sp>
        <p:pic>
          <p:nvPicPr>
            <p:cNvPr id="16" name="รูปภาพ 15">
              <a:extLst>
                <a:ext uri="{FF2B5EF4-FFF2-40B4-BE49-F238E27FC236}">
                  <a16:creationId xmlns:a16="http://schemas.microsoft.com/office/drawing/2014/main" id="{DDB8D0A7-E64F-5CCF-DC81-89F52FCEF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5341" y="2994184"/>
              <a:ext cx="806342" cy="3106219"/>
            </a:xfrm>
            <a:prstGeom prst="rect">
              <a:avLst/>
            </a:prstGeom>
          </p:spPr>
        </p:pic>
        <p:cxnSp>
          <p:nvCxnSpPr>
            <p:cNvPr id="25" name="ตัวเชื่อมต่อตรง 24">
              <a:extLst>
                <a:ext uri="{FF2B5EF4-FFF2-40B4-BE49-F238E27FC236}">
                  <a16:creationId xmlns:a16="http://schemas.microsoft.com/office/drawing/2014/main" id="{E662E751-008E-A46D-DF35-174CDF549A06}"/>
                </a:ext>
              </a:extLst>
            </p:cNvPr>
            <p:cNvCxnSpPr/>
            <p:nvPr/>
          </p:nvCxnSpPr>
          <p:spPr>
            <a:xfrm>
              <a:off x="522949" y="4552672"/>
              <a:ext cx="5103845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2D3A49"/>
                  </a:gs>
                  <a:gs pos="54000">
                    <a:srgbClr val="CC901A"/>
                  </a:gs>
                  <a:gs pos="100000">
                    <a:srgbClr val="83161A"/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ตัวเชื่อมต่อตรง 25">
              <a:extLst>
                <a:ext uri="{FF2B5EF4-FFF2-40B4-BE49-F238E27FC236}">
                  <a16:creationId xmlns:a16="http://schemas.microsoft.com/office/drawing/2014/main" id="{7BDDF17D-C9C9-499F-DD53-4AB6A72B3A58}"/>
                </a:ext>
              </a:extLst>
            </p:cNvPr>
            <p:cNvCxnSpPr/>
            <p:nvPr/>
          </p:nvCxnSpPr>
          <p:spPr>
            <a:xfrm>
              <a:off x="513619" y="5159295"/>
              <a:ext cx="5103845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2D3A49"/>
                  </a:gs>
                  <a:gs pos="54000">
                    <a:srgbClr val="CC901A"/>
                  </a:gs>
                  <a:gs pos="100000">
                    <a:srgbClr val="83161A"/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กล่องข้อความ 26">
              <a:extLst>
                <a:ext uri="{FF2B5EF4-FFF2-40B4-BE49-F238E27FC236}">
                  <a16:creationId xmlns:a16="http://schemas.microsoft.com/office/drawing/2014/main" id="{04C4B0AF-0D4D-8A31-6921-8E4047627175}"/>
                </a:ext>
              </a:extLst>
            </p:cNvPr>
            <p:cNvSpPr txBox="1"/>
            <p:nvPr/>
          </p:nvSpPr>
          <p:spPr>
            <a:xfrm>
              <a:off x="4961953" y="2928706"/>
              <a:ext cx="8390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0001</a:t>
              </a:r>
            </a:p>
          </p:txBody>
        </p:sp>
        <p:sp>
          <p:nvSpPr>
            <p:cNvPr id="28" name="กล่องข้อความ 27">
              <a:extLst>
                <a:ext uri="{FF2B5EF4-FFF2-40B4-BE49-F238E27FC236}">
                  <a16:creationId xmlns:a16="http://schemas.microsoft.com/office/drawing/2014/main" id="{38069463-AD37-E2E1-4BAC-41502D098E40}"/>
                </a:ext>
              </a:extLst>
            </p:cNvPr>
            <p:cNvSpPr txBox="1"/>
            <p:nvPr/>
          </p:nvSpPr>
          <p:spPr>
            <a:xfrm>
              <a:off x="218149" y="4615076"/>
              <a:ext cx="56916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b="1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พล.อ.อ.อลงกรณ์ วัณณรถ</a:t>
              </a:r>
            </a:p>
          </p:txBody>
        </p:sp>
        <p:sp>
          <p:nvSpPr>
            <p:cNvPr id="31" name="กล่องข้อความ 30">
              <a:extLst>
                <a:ext uri="{FF2B5EF4-FFF2-40B4-BE49-F238E27FC236}">
                  <a16:creationId xmlns:a16="http://schemas.microsoft.com/office/drawing/2014/main" id="{E3DF99DC-94F0-09A5-B351-6970CCC0341F}"/>
                </a:ext>
              </a:extLst>
            </p:cNvPr>
            <p:cNvSpPr txBox="1"/>
            <p:nvPr/>
          </p:nvSpPr>
          <p:spPr>
            <a:xfrm>
              <a:off x="2411466" y="5529372"/>
              <a:ext cx="21559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: </a:t>
              </a:r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เกษียณอายุราชการ</a:t>
              </a:r>
              <a:endParaRPr lang="th-TH" sz="1600" dirty="0"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endParaRPr>
            </a:p>
            <a:p>
              <a: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: </a:t>
              </a:r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ผบ.ทอ.</a:t>
              </a:r>
            </a:p>
          </p:txBody>
        </p:sp>
      </p:grpSp>
      <p:sp>
        <p:nvSpPr>
          <p:cNvPr id="8" name="ชื่อเรื่องรอง 2">
            <a:extLst>
              <a:ext uri="{FF2B5EF4-FFF2-40B4-BE49-F238E27FC236}">
                <a16:creationId xmlns:a16="http://schemas.microsoft.com/office/drawing/2014/main" id="{FEEE8178-AF72-40DF-99A4-12420F2C8030}"/>
              </a:ext>
            </a:extLst>
          </p:cNvPr>
          <p:cNvSpPr txBox="1">
            <a:spLocks/>
          </p:cNvSpPr>
          <p:nvPr/>
        </p:nvSpPr>
        <p:spPr>
          <a:xfrm>
            <a:off x="7912792" y="2144533"/>
            <a:ext cx="1928327" cy="33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ด้านหลังบัตร</a:t>
            </a:r>
          </a:p>
        </p:txBody>
      </p:sp>
      <p:grpSp>
        <p:nvGrpSpPr>
          <p:cNvPr id="37" name="กลุ่ม 36">
            <a:extLst>
              <a:ext uri="{FF2B5EF4-FFF2-40B4-BE49-F238E27FC236}">
                <a16:creationId xmlns:a16="http://schemas.microsoft.com/office/drawing/2014/main" id="{21AC65BA-9C31-FA8B-0FD7-E0ACFCB192C5}"/>
              </a:ext>
            </a:extLst>
          </p:cNvPr>
          <p:cNvGrpSpPr/>
          <p:nvPr/>
        </p:nvGrpSpPr>
        <p:grpSpPr>
          <a:xfrm>
            <a:off x="6093312" y="2816301"/>
            <a:ext cx="5716555" cy="3424335"/>
            <a:chOff x="6245290" y="2034072"/>
            <a:chExt cx="5716555" cy="3424335"/>
          </a:xfrm>
        </p:grpSpPr>
        <p:sp>
          <p:nvSpPr>
            <p:cNvPr id="9" name="สี่เหลี่ยมผืนผ้า: มุมมน 8">
              <a:extLst>
                <a:ext uri="{FF2B5EF4-FFF2-40B4-BE49-F238E27FC236}">
                  <a16:creationId xmlns:a16="http://schemas.microsoft.com/office/drawing/2014/main" id="{8A4C012D-A864-A5BB-6E77-B02B8DA2B94F}"/>
                </a:ext>
              </a:extLst>
            </p:cNvPr>
            <p:cNvSpPr/>
            <p:nvPr/>
          </p:nvSpPr>
          <p:spPr>
            <a:xfrm>
              <a:off x="6245290" y="2034072"/>
              <a:ext cx="5716555" cy="3424335"/>
            </a:xfrm>
            <a:prstGeom prst="roundRect">
              <a:avLst>
                <a:gd name="adj" fmla="val 7182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pic>
          <p:nvPicPr>
            <p:cNvPr id="15" name="รูปภาพ 14">
              <a:extLst>
                <a:ext uri="{FF2B5EF4-FFF2-40B4-BE49-F238E27FC236}">
                  <a16:creationId xmlns:a16="http://schemas.microsoft.com/office/drawing/2014/main" id="{38C555AA-9FED-B937-4786-17289E183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069219" y="4596174"/>
              <a:ext cx="755778" cy="755778"/>
            </a:xfrm>
            <a:prstGeom prst="roundRect">
              <a:avLst>
                <a:gd name="adj" fmla="val 11723"/>
              </a:avLst>
            </a:prstGeom>
          </p:spPr>
        </p:pic>
        <p:pic>
          <p:nvPicPr>
            <p:cNvPr id="17" name="Picture 8" descr="A red and white logo&#10;&#10;Description automatically generated">
              <a:extLst>
                <a:ext uri="{FF2B5EF4-FFF2-40B4-BE49-F238E27FC236}">
                  <a16:creationId xmlns:a16="http://schemas.microsoft.com/office/drawing/2014/main" id="{F1950456-77C2-0FF1-FF2C-E13585717B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3339"/>
            <a:stretch/>
          </p:blipFill>
          <p:spPr>
            <a:xfrm rot="16200000">
              <a:off x="4945345" y="3370367"/>
              <a:ext cx="3356631" cy="747319"/>
            </a:xfrm>
            <a:prstGeom prst="round2SameRect">
              <a:avLst>
                <a:gd name="adj1" fmla="val 36707"/>
                <a:gd name="adj2" fmla="val 0"/>
              </a:avLst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8" name="กล่องข้อความ 17">
              <a:extLst>
                <a:ext uri="{FF2B5EF4-FFF2-40B4-BE49-F238E27FC236}">
                  <a16:creationId xmlns:a16="http://schemas.microsoft.com/office/drawing/2014/main" id="{0EB7679D-BF50-5EDA-12C0-6C8A12FDCF3B}"/>
                </a:ext>
              </a:extLst>
            </p:cNvPr>
            <p:cNvSpPr txBox="1"/>
            <p:nvPr/>
          </p:nvSpPr>
          <p:spPr>
            <a:xfrm>
              <a:off x="7085242" y="5112792"/>
              <a:ext cx="481926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300" dirty="0">
                  <a:latin typeface="LINE Seed Sans TH Thin" panose="020B0303020203020204" pitchFamily="34" charset="-34"/>
                  <a:ea typeface="LINE Seed Sans TH Thin" panose="020B0303020203020204" pitchFamily="34" charset="-34"/>
                  <a:cs typeface="LINE Seed Sans TH Thin" panose="020B0303020203020204" pitchFamily="34" charset="-34"/>
                </a:rPr>
                <a:t>*โปรดติดตามข่าวสารล่าสุดจาก</a:t>
              </a:r>
              <a:r>
                <a:rPr lang="en-US" sz="1300" dirty="0">
                  <a:latin typeface="LINE Seed Sans TH Thin" panose="020B0303020203020204" pitchFamily="34" charset="-34"/>
                  <a:ea typeface="LINE Seed Sans TH Thin" panose="020B0303020203020204" pitchFamily="34" charset="-34"/>
                  <a:cs typeface="LINE Seed Sans TH Thin" panose="020B0303020203020204" pitchFamily="34" charset="-34"/>
                </a:rPr>
                <a:t>    </a:t>
              </a:r>
              <a:r>
                <a:rPr lang="en-US" sz="1300" b="1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Armstrong Line OA </a:t>
              </a:r>
              <a:r>
                <a:rPr lang="en-US" sz="1300" dirty="0">
                  <a:latin typeface="LINE Seed Sans TH Thin" panose="020B0303020203020204" pitchFamily="34" charset="-34"/>
                  <a:ea typeface="LINE Seed Sans TH Thin" panose="020B0303020203020204" pitchFamily="34" charset="-34"/>
                  <a:cs typeface="LINE Seed Sans TH Thin" panose="020B0303020203020204" pitchFamily="34" charset="-34"/>
                </a:rPr>
                <a:t>*</a:t>
              </a:r>
              <a:endParaRPr lang="th-TH" sz="1300" dirty="0">
                <a:latin typeface="LINE Seed Sans TH Thin" panose="020B0303020203020204" pitchFamily="34" charset="-34"/>
                <a:ea typeface="LINE Seed Sans TH Thin" panose="020B0303020203020204" pitchFamily="34" charset="-34"/>
                <a:cs typeface="LINE Seed Sans TH Thin" panose="020B0303020203020204" pitchFamily="34" charset="-34"/>
              </a:endParaRPr>
            </a:p>
          </p:txBody>
        </p:sp>
        <p:sp>
          <p:nvSpPr>
            <p:cNvPr id="21" name="กล่องข้อความ 20">
              <a:extLst>
                <a:ext uri="{FF2B5EF4-FFF2-40B4-BE49-F238E27FC236}">
                  <a16:creationId xmlns:a16="http://schemas.microsoft.com/office/drawing/2014/main" id="{872F29A1-2B82-C67C-7253-E5EA679A0459}"/>
                </a:ext>
              </a:extLst>
            </p:cNvPr>
            <p:cNvSpPr txBox="1"/>
            <p:nvPr/>
          </p:nvSpPr>
          <p:spPr>
            <a:xfrm>
              <a:off x="7417378" y="4417873"/>
              <a:ext cx="28587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4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วันเริ่มต้นสมาชิก</a:t>
              </a:r>
              <a:r>
                <a:rPr lang="en-US" sz="14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    :  1 </a:t>
              </a:r>
              <a:r>
                <a:rPr lang="th-TH" sz="14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ต.ค.2566</a:t>
              </a:r>
            </a:p>
            <a:p>
              <a:r>
                <a:rPr lang="th-TH" sz="14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บัตรหมดอายุ</a:t>
              </a:r>
              <a:r>
                <a:rPr lang="en-US" sz="14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          : </a:t>
              </a:r>
              <a:r>
                <a:rPr lang="th-TH" sz="14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 ไม่มีวันหมดอายุ</a:t>
              </a:r>
            </a:p>
          </p:txBody>
        </p:sp>
        <p:sp>
          <p:nvSpPr>
            <p:cNvPr id="33" name="กล่องข้อความ 32">
              <a:extLst>
                <a:ext uri="{FF2B5EF4-FFF2-40B4-BE49-F238E27FC236}">
                  <a16:creationId xmlns:a16="http://schemas.microsoft.com/office/drawing/2014/main" id="{083F9EE0-F79F-30DD-3E59-7AF1E2097F27}"/>
                </a:ext>
              </a:extLst>
            </p:cNvPr>
            <p:cNvSpPr txBox="1"/>
            <p:nvPr/>
          </p:nvSpPr>
          <p:spPr>
            <a:xfrm>
              <a:off x="7417378" y="2229741"/>
              <a:ext cx="412440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800" b="1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วันเวลาทำการ</a:t>
              </a:r>
            </a:p>
            <a:p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วันราชการ	0800 –  1600 </a:t>
              </a:r>
            </a:p>
            <a:p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วันหยุดราชการ	 1000 – 2000 </a:t>
              </a:r>
            </a:p>
            <a:p>
              <a:endParaRPr lang="th-TH" sz="1800" dirty="0"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endParaRPr>
            </a:p>
            <a:p>
              <a:r>
                <a:rPr lang="th-TH" sz="1800" b="1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สถานที่ห้องออกกำลังกาย</a:t>
              </a:r>
            </a:p>
            <a:p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บนอาคารจอดรถ บก.ทอ. </a:t>
              </a:r>
              <a:r>
                <a:rPr lang="en-US" sz="16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SKY FITNESS</a:t>
              </a:r>
              <a:b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</a:br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ที่จอดรถ </a:t>
              </a:r>
              <a: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: </a:t>
              </a:r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อาคารจอดรถชั้น </a:t>
              </a:r>
              <a:r>
                <a:rPr lang="th-TH" sz="16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5</a:t>
              </a:r>
              <a:r>
                <a:rPr lang="en-US" sz="16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A/5B</a:t>
              </a:r>
              <a:endParaRPr lang="th-TH" sz="1600" dirty="0"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endParaRPr>
            </a:p>
          </p:txBody>
        </p:sp>
      </p:grpSp>
      <p:pic>
        <p:nvPicPr>
          <p:cNvPr id="35" name="รูปภาพ 34">
            <a:extLst>
              <a:ext uri="{FF2B5EF4-FFF2-40B4-BE49-F238E27FC236}">
                <a16:creationId xmlns:a16="http://schemas.microsoft.com/office/drawing/2014/main" id="{05043B43-BFA7-77B7-FE9E-B03306ECD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53"/>
            <a:ext cx="2349795" cy="131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0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สี่เหลี่ยมผืนผ้า: มุมมน 38">
            <a:extLst>
              <a:ext uri="{FF2B5EF4-FFF2-40B4-BE49-F238E27FC236}">
                <a16:creationId xmlns:a16="http://schemas.microsoft.com/office/drawing/2014/main" id="{7C135F39-86BB-1E0C-B1F7-80DEBD7461E4}"/>
              </a:ext>
            </a:extLst>
          </p:cNvPr>
          <p:cNvSpPr/>
          <p:nvPr/>
        </p:nvSpPr>
        <p:spPr>
          <a:xfrm>
            <a:off x="1063258" y="457181"/>
            <a:ext cx="8282762" cy="850498"/>
          </a:xfrm>
          <a:prstGeom prst="roundRect">
            <a:avLst/>
          </a:prstGeom>
          <a:gradFill flip="none" rotWithShape="1">
            <a:gsLst>
              <a:gs pos="0">
                <a:srgbClr val="2D3A49"/>
              </a:gs>
              <a:gs pos="100000">
                <a:srgbClr val="83161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ชื่อเรื่องรอง 2">
            <a:extLst>
              <a:ext uri="{FF2B5EF4-FFF2-40B4-BE49-F238E27FC236}">
                <a16:creationId xmlns:a16="http://schemas.microsoft.com/office/drawing/2014/main" id="{5E9EE092-3C65-0DED-552C-F883F0D1A670}"/>
              </a:ext>
            </a:extLst>
          </p:cNvPr>
          <p:cNvSpPr txBox="1">
            <a:spLocks/>
          </p:cNvSpPr>
          <p:nvPr/>
        </p:nvSpPr>
        <p:spPr>
          <a:xfrm>
            <a:off x="1976424" y="617364"/>
            <a:ext cx="7070652" cy="56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บัตรสมาชิกประเภท น.สัญญาบัตร</a:t>
            </a:r>
          </a:p>
        </p:txBody>
      </p:sp>
      <p:pic>
        <p:nvPicPr>
          <p:cNvPr id="22" name="รูปภาพ 21">
            <a:extLst>
              <a:ext uri="{FF2B5EF4-FFF2-40B4-BE49-F238E27FC236}">
                <a16:creationId xmlns:a16="http://schemas.microsoft.com/office/drawing/2014/main" id="{73B131CF-D3D9-81FC-A872-7105F10B9A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36"/>
          <a:stretch/>
        </p:blipFill>
        <p:spPr>
          <a:xfrm>
            <a:off x="8201558" y="2994355"/>
            <a:ext cx="2701308" cy="1194319"/>
          </a:xfrm>
          <a:prstGeom prst="rect">
            <a:avLst/>
          </a:prstGeom>
        </p:spPr>
      </p:pic>
      <p:sp>
        <p:nvSpPr>
          <p:cNvPr id="7" name="ชื่อเรื่องรอง 2">
            <a:extLst>
              <a:ext uri="{FF2B5EF4-FFF2-40B4-BE49-F238E27FC236}">
                <a16:creationId xmlns:a16="http://schemas.microsoft.com/office/drawing/2014/main" id="{C1B431DF-41A1-757F-5962-A4CB869BDE30}"/>
              </a:ext>
            </a:extLst>
          </p:cNvPr>
          <p:cNvSpPr txBox="1">
            <a:spLocks/>
          </p:cNvSpPr>
          <p:nvPr/>
        </p:nvSpPr>
        <p:spPr>
          <a:xfrm>
            <a:off x="1673724" y="2145374"/>
            <a:ext cx="1928327" cy="33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ด้านหน้าบัตร</a:t>
            </a:r>
          </a:p>
        </p:txBody>
      </p:sp>
      <p:grpSp>
        <p:nvGrpSpPr>
          <p:cNvPr id="32" name="กลุ่ม 31">
            <a:extLst>
              <a:ext uri="{FF2B5EF4-FFF2-40B4-BE49-F238E27FC236}">
                <a16:creationId xmlns:a16="http://schemas.microsoft.com/office/drawing/2014/main" id="{2F304F5B-B93A-5F32-6F62-009ADFF8E7FE}"/>
              </a:ext>
            </a:extLst>
          </p:cNvPr>
          <p:cNvGrpSpPr/>
          <p:nvPr/>
        </p:nvGrpSpPr>
        <p:grpSpPr>
          <a:xfrm>
            <a:off x="218149" y="2779854"/>
            <a:ext cx="6058679" cy="3452120"/>
            <a:chOff x="367004" y="2015411"/>
            <a:chExt cx="6058679" cy="3452120"/>
          </a:xfrm>
        </p:grpSpPr>
        <p:sp>
          <p:nvSpPr>
            <p:cNvPr id="5" name="สี่เหลี่ยมผืนผ้า: มุมมน 4">
              <a:extLst>
                <a:ext uri="{FF2B5EF4-FFF2-40B4-BE49-F238E27FC236}">
                  <a16:creationId xmlns:a16="http://schemas.microsoft.com/office/drawing/2014/main" id="{9C5D75A9-BE59-3DEC-9322-31317657E5D8}"/>
                </a:ext>
              </a:extLst>
            </p:cNvPr>
            <p:cNvSpPr/>
            <p:nvPr/>
          </p:nvSpPr>
          <p:spPr>
            <a:xfrm>
              <a:off x="367004" y="2015412"/>
              <a:ext cx="5691673" cy="3442996"/>
            </a:xfrm>
            <a:prstGeom prst="roundRect">
              <a:avLst>
                <a:gd name="adj" fmla="val 7182"/>
              </a:avLst>
            </a:prstGeom>
            <a:solidFill>
              <a:schemeClr val="bg2">
                <a:lumMod val="90000"/>
              </a:schemeClr>
            </a:solidFill>
            <a:ln w="285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pic>
          <p:nvPicPr>
            <p:cNvPr id="20" name="รูปภาพ 19">
              <a:extLst>
                <a:ext uri="{FF2B5EF4-FFF2-40B4-BE49-F238E27FC236}">
                  <a16:creationId xmlns:a16="http://schemas.microsoft.com/office/drawing/2014/main" id="{CD581AB3-D675-4467-DEF4-22BF4F45B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982" y="2015411"/>
              <a:ext cx="961368" cy="746895"/>
            </a:xfrm>
            <a:prstGeom prst="rect">
              <a:avLst/>
            </a:prstGeom>
          </p:spPr>
        </p:pic>
        <p:pic>
          <p:nvPicPr>
            <p:cNvPr id="30" name="รูปภาพ 29">
              <a:extLst>
                <a:ext uri="{FF2B5EF4-FFF2-40B4-BE49-F238E27FC236}">
                  <a16:creationId xmlns:a16="http://schemas.microsoft.com/office/drawing/2014/main" id="{0274AA7D-17FC-9C27-DDB4-19A8222CCF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999"/>
            <a:stretch/>
          </p:blipFill>
          <p:spPr>
            <a:xfrm>
              <a:off x="1862231" y="2364318"/>
              <a:ext cx="4563452" cy="310321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3" name="กล่องข้อความ 22">
              <a:extLst>
                <a:ext uri="{FF2B5EF4-FFF2-40B4-BE49-F238E27FC236}">
                  <a16:creationId xmlns:a16="http://schemas.microsoft.com/office/drawing/2014/main" id="{FEE19513-5B97-DD89-99E3-0EF510118AED}"/>
                </a:ext>
              </a:extLst>
            </p:cNvPr>
            <p:cNvSpPr txBox="1"/>
            <p:nvPr/>
          </p:nvSpPr>
          <p:spPr>
            <a:xfrm>
              <a:off x="367005" y="4776012"/>
              <a:ext cx="21933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สถานภาพสมาชิก	      </a:t>
              </a:r>
              <a: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 </a:t>
              </a:r>
              <a:endParaRPr lang="th-TH" sz="1800" dirty="0"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endParaRPr>
            </a:p>
            <a:p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สังกัด</a:t>
              </a:r>
            </a:p>
          </p:txBody>
        </p:sp>
        <p:cxnSp>
          <p:nvCxnSpPr>
            <p:cNvPr id="25" name="ตัวเชื่อมต่อตรง 24">
              <a:extLst>
                <a:ext uri="{FF2B5EF4-FFF2-40B4-BE49-F238E27FC236}">
                  <a16:creationId xmlns:a16="http://schemas.microsoft.com/office/drawing/2014/main" id="{E662E751-008E-A46D-DF35-174CDF549A06}"/>
                </a:ext>
              </a:extLst>
            </p:cNvPr>
            <p:cNvCxnSpPr/>
            <p:nvPr/>
          </p:nvCxnSpPr>
          <p:spPr>
            <a:xfrm>
              <a:off x="671804" y="3788229"/>
              <a:ext cx="5103845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2D3A49"/>
                  </a:gs>
                  <a:gs pos="54000">
                    <a:srgbClr val="8497B0"/>
                  </a:gs>
                  <a:gs pos="100000">
                    <a:srgbClr val="83161A"/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ตัวเชื่อมต่อตรง 25">
              <a:extLst>
                <a:ext uri="{FF2B5EF4-FFF2-40B4-BE49-F238E27FC236}">
                  <a16:creationId xmlns:a16="http://schemas.microsoft.com/office/drawing/2014/main" id="{7BDDF17D-C9C9-499F-DD53-4AB6A72B3A58}"/>
                </a:ext>
              </a:extLst>
            </p:cNvPr>
            <p:cNvCxnSpPr/>
            <p:nvPr/>
          </p:nvCxnSpPr>
          <p:spPr>
            <a:xfrm>
              <a:off x="662474" y="4394852"/>
              <a:ext cx="5103845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2D3A49"/>
                  </a:gs>
                  <a:gs pos="54000">
                    <a:srgbClr val="8497B0"/>
                  </a:gs>
                  <a:gs pos="100000">
                    <a:srgbClr val="83161A"/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กล่องข้อความ 26">
              <a:extLst>
                <a:ext uri="{FF2B5EF4-FFF2-40B4-BE49-F238E27FC236}">
                  <a16:creationId xmlns:a16="http://schemas.microsoft.com/office/drawing/2014/main" id="{04C4B0AF-0D4D-8A31-6921-8E4047627175}"/>
                </a:ext>
              </a:extLst>
            </p:cNvPr>
            <p:cNvSpPr txBox="1"/>
            <p:nvPr/>
          </p:nvSpPr>
          <p:spPr>
            <a:xfrm>
              <a:off x="5110808" y="2164263"/>
              <a:ext cx="8390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0100</a:t>
              </a:r>
            </a:p>
          </p:txBody>
        </p:sp>
        <p:sp>
          <p:nvSpPr>
            <p:cNvPr id="28" name="กล่องข้อความ 27">
              <a:extLst>
                <a:ext uri="{FF2B5EF4-FFF2-40B4-BE49-F238E27FC236}">
                  <a16:creationId xmlns:a16="http://schemas.microsoft.com/office/drawing/2014/main" id="{38069463-AD37-E2E1-4BAC-41502D098E40}"/>
                </a:ext>
              </a:extLst>
            </p:cNvPr>
            <p:cNvSpPr txBox="1"/>
            <p:nvPr/>
          </p:nvSpPr>
          <p:spPr>
            <a:xfrm>
              <a:off x="367004" y="3850633"/>
              <a:ext cx="56916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b="1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น.อ.เฉลิมพล ปรีดารัตน์</a:t>
              </a:r>
            </a:p>
          </p:txBody>
        </p:sp>
        <p:sp>
          <p:nvSpPr>
            <p:cNvPr id="31" name="กล่องข้อความ 30">
              <a:extLst>
                <a:ext uri="{FF2B5EF4-FFF2-40B4-BE49-F238E27FC236}">
                  <a16:creationId xmlns:a16="http://schemas.microsoft.com/office/drawing/2014/main" id="{E3DF99DC-94F0-09A5-B351-6970CCC0341F}"/>
                </a:ext>
              </a:extLst>
            </p:cNvPr>
            <p:cNvSpPr txBox="1"/>
            <p:nvPr/>
          </p:nvSpPr>
          <p:spPr>
            <a:xfrm>
              <a:off x="2560320" y="4764929"/>
              <a:ext cx="33894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: </a:t>
              </a:r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ข้าราชการทหารอากาศ</a:t>
              </a:r>
              <a:endParaRPr lang="th-TH" sz="1600" dirty="0"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endParaRPr>
            </a:p>
            <a:p>
              <a:r>
                <a:rPr lang="en-US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: </a:t>
              </a:r>
              <a:r>
                <a: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 ทสส.ทอ.</a:t>
              </a:r>
            </a:p>
          </p:txBody>
        </p:sp>
      </p:grpSp>
      <p:grpSp>
        <p:nvGrpSpPr>
          <p:cNvPr id="38" name="กลุ่ม 37">
            <a:extLst>
              <a:ext uri="{FF2B5EF4-FFF2-40B4-BE49-F238E27FC236}">
                <a16:creationId xmlns:a16="http://schemas.microsoft.com/office/drawing/2014/main" id="{C48D0038-EB71-EF07-11FE-89CE4B031C9D}"/>
              </a:ext>
            </a:extLst>
          </p:cNvPr>
          <p:cNvGrpSpPr/>
          <p:nvPr/>
        </p:nvGrpSpPr>
        <p:grpSpPr>
          <a:xfrm>
            <a:off x="6096435" y="2144533"/>
            <a:ext cx="5716555" cy="4078317"/>
            <a:chOff x="6245290" y="1380090"/>
            <a:chExt cx="5716555" cy="4078317"/>
          </a:xfrm>
        </p:grpSpPr>
        <p:sp>
          <p:nvSpPr>
            <p:cNvPr id="8" name="ชื่อเรื่องรอง 2">
              <a:extLst>
                <a:ext uri="{FF2B5EF4-FFF2-40B4-BE49-F238E27FC236}">
                  <a16:creationId xmlns:a16="http://schemas.microsoft.com/office/drawing/2014/main" id="{FEEE8178-AF72-40DF-99A4-12420F2C8030}"/>
                </a:ext>
              </a:extLst>
            </p:cNvPr>
            <p:cNvSpPr txBox="1">
              <a:spLocks/>
            </p:cNvSpPr>
            <p:nvPr/>
          </p:nvSpPr>
          <p:spPr>
            <a:xfrm>
              <a:off x="8061647" y="1380090"/>
              <a:ext cx="1928327" cy="3354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th-TH" sz="3600" b="1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ด้านหลังบัตร</a:t>
              </a:r>
            </a:p>
          </p:txBody>
        </p:sp>
        <p:grpSp>
          <p:nvGrpSpPr>
            <p:cNvPr id="37" name="กลุ่ม 36">
              <a:extLst>
                <a:ext uri="{FF2B5EF4-FFF2-40B4-BE49-F238E27FC236}">
                  <a16:creationId xmlns:a16="http://schemas.microsoft.com/office/drawing/2014/main" id="{21AC65BA-9C31-FA8B-0FD7-E0ACFCB192C5}"/>
                </a:ext>
              </a:extLst>
            </p:cNvPr>
            <p:cNvGrpSpPr/>
            <p:nvPr/>
          </p:nvGrpSpPr>
          <p:grpSpPr>
            <a:xfrm>
              <a:off x="6245290" y="2034072"/>
              <a:ext cx="5716555" cy="3424335"/>
              <a:chOff x="6245290" y="2034072"/>
              <a:chExt cx="5716555" cy="3424335"/>
            </a:xfrm>
          </p:grpSpPr>
          <p:sp>
            <p:nvSpPr>
              <p:cNvPr id="9" name="สี่เหลี่ยมผืนผ้า: มุมมน 8">
                <a:extLst>
                  <a:ext uri="{FF2B5EF4-FFF2-40B4-BE49-F238E27FC236}">
                    <a16:creationId xmlns:a16="http://schemas.microsoft.com/office/drawing/2014/main" id="{8A4C012D-A864-A5BB-6E77-B02B8DA2B94F}"/>
                  </a:ext>
                </a:extLst>
              </p:cNvPr>
              <p:cNvSpPr/>
              <p:nvPr/>
            </p:nvSpPr>
            <p:spPr>
              <a:xfrm>
                <a:off x="6245290" y="2034072"/>
                <a:ext cx="5716555" cy="3424335"/>
              </a:xfrm>
              <a:prstGeom prst="roundRect">
                <a:avLst>
                  <a:gd name="adj" fmla="val 7182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pic>
            <p:nvPicPr>
              <p:cNvPr id="15" name="รูปภาพ 14">
                <a:extLst>
                  <a:ext uri="{FF2B5EF4-FFF2-40B4-BE49-F238E27FC236}">
                    <a16:creationId xmlns:a16="http://schemas.microsoft.com/office/drawing/2014/main" id="{38C555AA-9FED-B937-4786-17289E183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225134" y="4341017"/>
                <a:ext cx="755778" cy="755778"/>
              </a:xfrm>
              <a:prstGeom prst="roundRect">
                <a:avLst>
                  <a:gd name="adj" fmla="val 11723"/>
                </a:avLst>
              </a:prstGeom>
            </p:spPr>
          </p:pic>
          <p:pic>
            <p:nvPicPr>
              <p:cNvPr id="17" name="Picture 8" descr="A red and white logo&#10;&#10;Description automatically generated">
                <a:extLst>
                  <a:ext uri="{FF2B5EF4-FFF2-40B4-BE49-F238E27FC236}">
                    <a16:creationId xmlns:a16="http://schemas.microsoft.com/office/drawing/2014/main" id="{F1950456-77C2-0FF1-FF2C-E13585717B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b="3339"/>
              <a:stretch/>
            </p:blipFill>
            <p:spPr>
              <a:xfrm rot="16200000">
                <a:off x="4945345" y="3370367"/>
                <a:ext cx="3356631" cy="747319"/>
              </a:xfrm>
              <a:prstGeom prst="round2SameRect">
                <a:avLst>
                  <a:gd name="adj1" fmla="val 36707"/>
                  <a:gd name="adj2" fmla="val 0"/>
                </a:avLst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8" name="กล่องข้อความ 17">
                <a:extLst>
                  <a:ext uri="{FF2B5EF4-FFF2-40B4-BE49-F238E27FC236}">
                    <a16:creationId xmlns:a16="http://schemas.microsoft.com/office/drawing/2014/main" id="{0EB7679D-BF50-5EDA-12C0-6C8A12FDCF3B}"/>
                  </a:ext>
                </a:extLst>
              </p:cNvPr>
              <p:cNvSpPr txBox="1"/>
              <p:nvPr/>
            </p:nvSpPr>
            <p:spPr>
              <a:xfrm>
                <a:off x="7140259" y="5114514"/>
                <a:ext cx="481926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Armstrong Line OA </a:t>
                </a:r>
                <a:r>
                  <a:rPr lang="th-TH" sz="13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 </a:t>
                </a:r>
                <a:r>
                  <a:rPr lang="th-TH" sz="1300" dirty="0">
                    <a:latin typeface="LINE Seed Sans TH Thin" panose="020B0303020203020204" pitchFamily="34" charset="-34"/>
                    <a:ea typeface="LINE Seed Sans TH Thin" panose="020B0303020203020204" pitchFamily="34" charset="-34"/>
                    <a:cs typeface="LINE Seed Sans TH Thin" panose="020B0303020203020204" pitchFamily="34" charset="-34"/>
                  </a:rPr>
                  <a:t>*โปรดติดตามข่าวสารล่าสุดจาก</a:t>
                </a:r>
                <a:r>
                  <a:rPr lang="en-US" sz="1300" dirty="0">
                    <a:latin typeface="LINE Seed Sans TH Thin" panose="020B0303020203020204" pitchFamily="34" charset="-34"/>
                    <a:ea typeface="LINE Seed Sans TH Thin" panose="020B0303020203020204" pitchFamily="34" charset="-34"/>
                    <a:cs typeface="LINE Seed Sans TH Thin" panose="020B0303020203020204" pitchFamily="34" charset="-34"/>
                  </a:rPr>
                  <a:t> Line*</a:t>
                </a:r>
                <a:endParaRPr lang="th-TH" sz="1300" dirty="0">
                  <a:latin typeface="LINE Seed Sans TH Thin" panose="020B0303020203020204" pitchFamily="34" charset="-34"/>
                  <a:ea typeface="LINE Seed Sans TH Thin" panose="020B0303020203020204" pitchFamily="34" charset="-34"/>
                  <a:cs typeface="LINE Seed Sans TH Thin" panose="020B0303020203020204" pitchFamily="34" charset="-34"/>
                </a:endParaRPr>
              </a:p>
            </p:txBody>
          </p:sp>
          <p:sp>
            <p:nvSpPr>
              <p:cNvPr id="21" name="กล่องข้อความ 20">
                <a:extLst>
                  <a:ext uri="{FF2B5EF4-FFF2-40B4-BE49-F238E27FC236}">
                    <a16:creationId xmlns:a16="http://schemas.microsoft.com/office/drawing/2014/main" id="{872F29A1-2B82-C67C-7253-E5EA679A0459}"/>
                  </a:ext>
                </a:extLst>
              </p:cNvPr>
              <p:cNvSpPr txBox="1"/>
              <p:nvPr/>
            </p:nvSpPr>
            <p:spPr>
              <a:xfrm>
                <a:off x="7939710" y="4468183"/>
                <a:ext cx="38852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วันเริ่มต้นสมาชิก</a:t>
                </a:r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     :  1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ต.ค.2566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บัตรหมดอายุ</a:t>
                </a:r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	: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 ไม่มีวันหมดอายุ</a:t>
                </a:r>
              </a:p>
            </p:txBody>
          </p:sp>
          <p:sp>
            <p:nvSpPr>
              <p:cNvPr id="33" name="กล่องข้อความ 32">
                <a:extLst>
                  <a:ext uri="{FF2B5EF4-FFF2-40B4-BE49-F238E27FC236}">
                    <a16:creationId xmlns:a16="http://schemas.microsoft.com/office/drawing/2014/main" id="{083F9EE0-F79F-30DD-3E59-7AF1E2097F27}"/>
                  </a:ext>
                </a:extLst>
              </p:cNvPr>
              <p:cNvSpPr txBox="1"/>
              <p:nvPr/>
            </p:nvSpPr>
            <p:spPr>
              <a:xfrm>
                <a:off x="7417378" y="2229741"/>
                <a:ext cx="412440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h-TH" sz="18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วันเวลาทำการ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วันราชการ	 1600 – 2000 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วันหยุดราชการ	 1000 – 2000 </a:t>
                </a:r>
              </a:p>
              <a:p>
                <a:endPara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endParaRPr>
              </a:p>
              <a:p>
                <a:r>
                  <a:rPr lang="th-TH" sz="18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สถานที่ห้องออกกำลังกาย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บนอาคารจอดรถ บก.ทอ. </a:t>
                </a:r>
                <a:r>
                  <a:rPr lang="en-US" sz="16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SKY FITNESS</a:t>
                </a:r>
                <a:b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</a:b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ที่จอดรถ </a:t>
                </a:r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: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อาคารจอดรถชั้น </a:t>
                </a:r>
                <a:r>
                  <a:rPr lang="th-TH" sz="16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5</a:t>
                </a:r>
                <a:r>
                  <a:rPr lang="en-US" sz="16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A/5B</a:t>
                </a:r>
                <a:endParaRPr lang="th-TH" sz="16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endParaRPr>
              </a:p>
            </p:txBody>
          </p:sp>
        </p:grpSp>
      </p:grpSp>
      <p:pic>
        <p:nvPicPr>
          <p:cNvPr id="35" name="รูปภาพ 34">
            <a:extLst>
              <a:ext uri="{FF2B5EF4-FFF2-40B4-BE49-F238E27FC236}">
                <a16:creationId xmlns:a16="http://schemas.microsoft.com/office/drawing/2014/main" id="{05043B43-BFA7-77B7-FE9E-B03306ECD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53"/>
            <a:ext cx="2349795" cy="1310690"/>
          </a:xfrm>
          <a:prstGeom prst="rect">
            <a:avLst/>
          </a:prstGeom>
        </p:spPr>
      </p:pic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26476987-7B6C-EABC-CCDF-7A7191350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9" t="-587" r="7923" b="20910"/>
          <a:stretch/>
        </p:blipFill>
        <p:spPr>
          <a:xfrm>
            <a:off x="1935531" y="3193380"/>
            <a:ext cx="2256907" cy="120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2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สี่เหลี่ยมผืนผ้า: มุมมน 38">
            <a:extLst>
              <a:ext uri="{FF2B5EF4-FFF2-40B4-BE49-F238E27FC236}">
                <a16:creationId xmlns:a16="http://schemas.microsoft.com/office/drawing/2014/main" id="{7C135F39-86BB-1E0C-B1F7-80DEBD7461E4}"/>
              </a:ext>
            </a:extLst>
          </p:cNvPr>
          <p:cNvSpPr/>
          <p:nvPr/>
        </p:nvSpPr>
        <p:spPr>
          <a:xfrm>
            <a:off x="1063258" y="457181"/>
            <a:ext cx="8282762" cy="850498"/>
          </a:xfrm>
          <a:prstGeom prst="roundRect">
            <a:avLst/>
          </a:prstGeom>
          <a:gradFill flip="none" rotWithShape="1">
            <a:gsLst>
              <a:gs pos="0">
                <a:srgbClr val="2D3A49"/>
              </a:gs>
              <a:gs pos="100000">
                <a:srgbClr val="83161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ชื่อเรื่องรอง 2">
            <a:extLst>
              <a:ext uri="{FF2B5EF4-FFF2-40B4-BE49-F238E27FC236}">
                <a16:creationId xmlns:a16="http://schemas.microsoft.com/office/drawing/2014/main" id="{5E9EE092-3C65-0DED-552C-F883F0D1A670}"/>
              </a:ext>
            </a:extLst>
          </p:cNvPr>
          <p:cNvSpPr txBox="1">
            <a:spLocks/>
          </p:cNvSpPr>
          <p:nvPr/>
        </p:nvSpPr>
        <p:spPr>
          <a:xfrm>
            <a:off x="1976424" y="617364"/>
            <a:ext cx="7070652" cy="56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บัตรสมาชิกประเภท น.ประทวน</a:t>
            </a:r>
          </a:p>
        </p:txBody>
      </p:sp>
      <p:pic>
        <p:nvPicPr>
          <p:cNvPr id="22" name="รูปภาพ 21">
            <a:extLst>
              <a:ext uri="{FF2B5EF4-FFF2-40B4-BE49-F238E27FC236}">
                <a16:creationId xmlns:a16="http://schemas.microsoft.com/office/drawing/2014/main" id="{73B131CF-D3D9-81FC-A872-7105F10B9A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36"/>
          <a:stretch/>
        </p:blipFill>
        <p:spPr>
          <a:xfrm>
            <a:off x="8201558" y="2994355"/>
            <a:ext cx="2701308" cy="1194319"/>
          </a:xfrm>
          <a:prstGeom prst="rect">
            <a:avLst/>
          </a:prstGeom>
        </p:spPr>
      </p:pic>
      <p:sp>
        <p:nvSpPr>
          <p:cNvPr id="7" name="ชื่อเรื่องรอง 2">
            <a:extLst>
              <a:ext uri="{FF2B5EF4-FFF2-40B4-BE49-F238E27FC236}">
                <a16:creationId xmlns:a16="http://schemas.microsoft.com/office/drawing/2014/main" id="{C1B431DF-41A1-757F-5962-A4CB869BDE30}"/>
              </a:ext>
            </a:extLst>
          </p:cNvPr>
          <p:cNvSpPr txBox="1">
            <a:spLocks/>
          </p:cNvSpPr>
          <p:nvPr/>
        </p:nvSpPr>
        <p:spPr>
          <a:xfrm>
            <a:off x="1768080" y="2249616"/>
            <a:ext cx="1928327" cy="33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ด้านหน้าบัตร</a:t>
            </a:r>
          </a:p>
        </p:txBody>
      </p:sp>
      <p:grpSp>
        <p:nvGrpSpPr>
          <p:cNvPr id="38" name="กลุ่ม 37">
            <a:extLst>
              <a:ext uri="{FF2B5EF4-FFF2-40B4-BE49-F238E27FC236}">
                <a16:creationId xmlns:a16="http://schemas.microsoft.com/office/drawing/2014/main" id="{C48D0038-EB71-EF07-11FE-89CE4B031C9D}"/>
              </a:ext>
            </a:extLst>
          </p:cNvPr>
          <p:cNvGrpSpPr/>
          <p:nvPr/>
        </p:nvGrpSpPr>
        <p:grpSpPr>
          <a:xfrm>
            <a:off x="6096435" y="2144533"/>
            <a:ext cx="5716555" cy="4078317"/>
            <a:chOff x="6245290" y="1380090"/>
            <a:chExt cx="5716555" cy="4078317"/>
          </a:xfrm>
        </p:grpSpPr>
        <p:sp>
          <p:nvSpPr>
            <p:cNvPr id="8" name="ชื่อเรื่องรอง 2">
              <a:extLst>
                <a:ext uri="{FF2B5EF4-FFF2-40B4-BE49-F238E27FC236}">
                  <a16:creationId xmlns:a16="http://schemas.microsoft.com/office/drawing/2014/main" id="{FEEE8178-AF72-40DF-99A4-12420F2C8030}"/>
                </a:ext>
              </a:extLst>
            </p:cNvPr>
            <p:cNvSpPr txBox="1">
              <a:spLocks/>
            </p:cNvSpPr>
            <p:nvPr/>
          </p:nvSpPr>
          <p:spPr>
            <a:xfrm>
              <a:off x="8061647" y="1380090"/>
              <a:ext cx="1928327" cy="3354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th-TH" sz="3600" b="1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ด้านหลังบัตร</a:t>
              </a:r>
            </a:p>
          </p:txBody>
        </p:sp>
        <p:grpSp>
          <p:nvGrpSpPr>
            <p:cNvPr id="37" name="กลุ่ม 36">
              <a:extLst>
                <a:ext uri="{FF2B5EF4-FFF2-40B4-BE49-F238E27FC236}">
                  <a16:creationId xmlns:a16="http://schemas.microsoft.com/office/drawing/2014/main" id="{21AC65BA-9C31-FA8B-0FD7-E0ACFCB192C5}"/>
                </a:ext>
              </a:extLst>
            </p:cNvPr>
            <p:cNvGrpSpPr/>
            <p:nvPr/>
          </p:nvGrpSpPr>
          <p:grpSpPr>
            <a:xfrm>
              <a:off x="6245290" y="2034072"/>
              <a:ext cx="5716555" cy="3424335"/>
              <a:chOff x="6245290" y="2034072"/>
              <a:chExt cx="5716555" cy="3424335"/>
            </a:xfrm>
          </p:grpSpPr>
          <p:sp>
            <p:nvSpPr>
              <p:cNvPr id="9" name="สี่เหลี่ยมผืนผ้า: มุมมน 8">
                <a:extLst>
                  <a:ext uri="{FF2B5EF4-FFF2-40B4-BE49-F238E27FC236}">
                    <a16:creationId xmlns:a16="http://schemas.microsoft.com/office/drawing/2014/main" id="{8A4C012D-A864-A5BB-6E77-B02B8DA2B94F}"/>
                  </a:ext>
                </a:extLst>
              </p:cNvPr>
              <p:cNvSpPr/>
              <p:nvPr/>
            </p:nvSpPr>
            <p:spPr>
              <a:xfrm>
                <a:off x="6245290" y="2034072"/>
                <a:ext cx="5716555" cy="3424335"/>
              </a:xfrm>
              <a:prstGeom prst="roundRect">
                <a:avLst>
                  <a:gd name="adj" fmla="val 7182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pic>
            <p:nvPicPr>
              <p:cNvPr id="15" name="รูปภาพ 14">
                <a:extLst>
                  <a:ext uri="{FF2B5EF4-FFF2-40B4-BE49-F238E27FC236}">
                    <a16:creationId xmlns:a16="http://schemas.microsoft.com/office/drawing/2014/main" id="{38C555AA-9FED-B937-4786-17289E183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225134" y="4341017"/>
                <a:ext cx="755778" cy="755778"/>
              </a:xfrm>
              <a:prstGeom prst="roundRect">
                <a:avLst>
                  <a:gd name="adj" fmla="val 11723"/>
                </a:avLst>
              </a:prstGeom>
            </p:spPr>
          </p:pic>
          <p:pic>
            <p:nvPicPr>
              <p:cNvPr id="17" name="Picture 8" descr="A red and white logo&#10;&#10;Description automatically generated">
                <a:extLst>
                  <a:ext uri="{FF2B5EF4-FFF2-40B4-BE49-F238E27FC236}">
                    <a16:creationId xmlns:a16="http://schemas.microsoft.com/office/drawing/2014/main" id="{F1950456-77C2-0FF1-FF2C-E13585717B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3339"/>
              <a:stretch/>
            </p:blipFill>
            <p:spPr>
              <a:xfrm rot="16200000">
                <a:off x="5005633" y="3370367"/>
                <a:ext cx="3356631" cy="747319"/>
              </a:xfrm>
              <a:prstGeom prst="round2SameRect">
                <a:avLst>
                  <a:gd name="adj1" fmla="val 36707"/>
                  <a:gd name="adj2" fmla="val 0"/>
                </a:avLst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8" name="กล่องข้อความ 17">
                <a:extLst>
                  <a:ext uri="{FF2B5EF4-FFF2-40B4-BE49-F238E27FC236}">
                    <a16:creationId xmlns:a16="http://schemas.microsoft.com/office/drawing/2014/main" id="{0EB7679D-BF50-5EDA-12C0-6C8A12FDCF3B}"/>
                  </a:ext>
                </a:extLst>
              </p:cNvPr>
              <p:cNvSpPr txBox="1"/>
              <p:nvPr/>
            </p:nvSpPr>
            <p:spPr>
              <a:xfrm>
                <a:off x="7140259" y="5114514"/>
                <a:ext cx="481926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Armstrong Line OA </a:t>
                </a:r>
                <a:r>
                  <a:rPr lang="th-TH" sz="13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 </a:t>
                </a:r>
                <a:r>
                  <a:rPr lang="th-TH" sz="1300" dirty="0">
                    <a:latin typeface="LINE Seed Sans TH Thin" panose="020B0303020203020204" pitchFamily="34" charset="-34"/>
                    <a:ea typeface="LINE Seed Sans TH Thin" panose="020B0303020203020204" pitchFamily="34" charset="-34"/>
                    <a:cs typeface="LINE Seed Sans TH Thin" panose="020B0303020203020204" pitchFamily="34" charset="-34"/>
                  </a:rPr>
                  <a:t>*โปรดติดตามข่าวสารล่าสุดจาก</a:t>
                </a:r>
                <a:r>
                  <a:rPr lang="en-US" sz="1300" dirty="0">
                    <a:latin typeface="LINE Seed Sans TH Thin" panose="020B0303020203020204" pitchFamily="34" charset="-34"/>
                    <a:ea typeface="LINE Seed Sans TH Thin" panose="020B0303020203020204" pitchFamily="34" charset="-34"/>
                    <a:cs typeface="LINE Seed Sans TH Thin" panose="020B0303020203020204" pitchFamily="34" charset="-34"/>
                  </a:rPr>
                  <a:t> Line*</a:t>
                </a:r>
                <a:endParaRPr lang="th-TH" sz="1300" dirty="0">
                  <a:latin typeface="LINE Seed Sans TH Thin" panose="020B0303020203020204" pitchFamily="34" charset="-34"/>
                  <a:ea typeface="LINE Seed Sans TH Thin" panose="020B0303020203020204" pitchFamily="34" charset="-34"/>
                  <a:cs typeface="LINE Seed Sans TH Thin" panose="020B0303020203020204" pitchFamily="34" charset="-34"/>
                </a:endParaRPr>
              </a:p>
            </p:txBody>
          </p:sp>
          <p:sp>
            <p:nvSpPr>
              <p:cNvPr id="21" name="กล่องข้อความ 20">
                <a:extLst>
                  <a:ext uri="{FF2B5EF4-FFF2-40B4-BE49-F238E27FC236}">
                    <a16:creationId xmlns:a16="http://schemas.microsoft.com/office/drawing/2014/main" id="{872F29A1-2B82-C67C-7253-E5EA679A0459}"/>
                  </a:ext>
                </a:extLst>
              </p:cNvPr>
              <p:cNvSpPr txBox="1"/>
              <p:nvPr/>
            </p:nvSpPr>
            <p:spPr>
              <a:xfrm>
                <a:off x="7939710" y="4468183"/>
                <a:ext cx="38852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วันเริ่มต้นสมาชิก</a:t>
                </a:r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     :  1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ต.ค.2566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บัตรหมดอายุ</a:t>
                </a:r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	: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 ไม่มีวันหมดอายุ</a:t>
                </a:r>
              </a:p>
            </p:txBody>
          </p:sp>
          <p:sp>
            <p:nvSpPr>
              <p:cNvPr id="33" name="กล่องข้อความ 32">
                <a:extLst>
                  <a:ext uri="{FF2B5EF4-FFF2-40B4-BE49-F238E27FC236}">
                    <a16:creationId xmlns:a16="http://schemas.microsoft.com/office/drawing/2014/main" id="{083F9EE0-F79F-30DD-3E59-7AF1E2097F27}"/>
                  </a:ext>
                </a:extLst>
              </p:cNvPr>
              <p:cNvSpPr txBox="1"/>
              <p:nvPr/>
            </p:nvSpPr>
            <p:spPr>
              <a:xfrm>
                <a:off x="7417378" y="2229741"/>
                <a:ext cx="412440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h-TH" sz="18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วันเวลาทำการ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วันราชการ	0800 – 1600 น.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วันหยุดราชการ	 1000 – 2000 น.</a:t>
                </a:r>
              </a:p>
              <a:p>
                <a:endPara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endParaRPr>
              </a:p>
              <a:p>
                <a:r>
                  <a:rPr lang="th-TH" sz="1800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สถานที่ห้องออกกำลังกาย</a:t>
                </a: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บนอาคารจอดรถ บก.ทอ. </a:t>
                </a:r>
                <a:r>
                  <a:rPr lang="en-US" sz="16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SKY FITNESS</a:t>
                </a:r>
                <a:b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</a:b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ที่จอดรถ </a:t>
                </a:r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: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อาคารจอดรถชั้น </a:t>
                </a:r>
                <a:r>
                  <a:rPr lang="th-TH" sz="16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5</a:t>
                </a:r>
                <a:r>
                  <a:rPr lang="en-US" sz="16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A/5B</a:t>
                </a:r>
                <a:endParaRPr lang="th-TH" sz="16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endParaRPr>
              </a:p>
            </p:txBody>
          </p:sp>
        </p:grpSp>
      </p:grpSp>
      <p:pic>
        <p:nvPicPr>
          <p:cNvPr id="35" name="รูปภาพ 34">
            <a:extLst>
              <a:ext uri="{FF2B5EF4-FFF2-40B4-BE49-F238E27FC236}">
                <a16:creationId xmlns:a16="http://schemas.microsoft.com/office/drawing/2014/main" id="{05043B43-BFA7-77B7-FE9E-B03306ECD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53"/>
            <a:ext cx="2349795" cy="1310690"/>
          </a:xfrm>
          <a:prstGeom prst="rect">
            <a:avLst/>
          </a:prstGeom>
        </p:spPr>
      </p:pic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6526DC87-71DA-C3D2-8503-8063DDA06AF1}"/>
              </a:ext>
            </a:extLst>
          </p:cNvPr>
          <p:cNvGrpSpPr/>
          <p:nvPr/>
        </p:nvGrpSpPr>
        <p:grpSpPr>
          <a:xfrm>
            <a:off x="272853" y="2798515"/>
            <a:ext cx="6058679" cy="3452120"/>
            <a:chOff x="218149" y="2779854"/>
            <a:chExt cx="6058679" cy="3452120"/>
          </a:xfrm>
        </p:grpSpPr>
        <p:grpSp>
          <p:nvGrpSpPr>
            <p:cNvPr id="6" name="กลุ่ม 5">
              <a:extLst>
                <a:ext uri="{FF2B5EF4-FFF2-40B4-BE49-F238E27FC236}">
                  <a16:creationId xmlns:a16="http://schemas.microsoft.com/office/drawing/2014/main" id="{3A66811B-13FF-1439-E740-E8B519F6C29D}"/>
                </a:ext>
              </a:extLst>
            </p:cNvPr>
            <p:cNvGrpSpPr/>
            <p:nvPr/>
          </p:nvGrpSpPr>
          <p:grpSpPr>
            <a:xfrm>
              <a:off x="218149" y="2779854"/>
              <a:ext cx="6058679" cy="3452120"/>
              <a:chOff x="218149" y="2779854"/>
              <a:chExt cx="6058679" cy="3452120"/>
            </a:xfrm>
          </p:grpSpPr>
          <p:sp>
            <p:nvSpPr>
              <p:cNvPr id="5" name="สี่เหลี่ยมผืนผ้า: มุมมน 4">
                <a:extLst>
                  <a:ext uri="{FF2B5EF4-FFF2-40B4-BE49-F238E27FC236}">
                    <a16:creationId xmlns:a16="http://schemas.microsoft.com/office/drawing/2014/main" id="{9C5D75A9-BE59-3DEC-9322-31317657E5D8}"/>
                  </a:ext>
                </a:extLst>
              </p:cNvPr>
              <p:cNvSpPr/>
              <p:nvPr/>
            </p:nvSpPr>
            <p:spPr>
              <a:xfrm>
                <a:off x="218149" y="2779855"/>
                <a:ext cx="5691673" cy="3442996"/>
              </a:xfrm>
              <a:prstGeom prst="roundRect">
                <a:avLst>
                  <a:gd name="adj" fmla="val 7182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pic>
            <p:nvPicPr>
              <p:cNvPr id="20" name="รูปภาพ 19">
                <a:extLst>
                  <a:ext uri="{FF2B5EF4-FFF2-40B4-BE49-F238E27FC236}">
                    <a16:creationId xmlns:a16="http://schemas.microsoft.com/office/drawing/2014/main" id="{CD581AB3-D675-4467-DEF4-22BF4F45BA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2127" y="2779854"/>
                <a:ext cx="961368" cy="746895"/>
              </a:xfrm>
              <a:prstGeom prst="rect">
                <a:avLst/>
              </a:prstGeom>
            </p:spPr>
          </p:pic>
          <p:pic>
            <p:nvPicPr>
              <p:cNvPr id="30" name="รูปภาพ 29">
                <a:extLst>
                  <a:ext uri="{FF2B5EF4-FFF2-40B4-BE49-F238E27FC236}">
                    <a16:creationId xmlns:a16="http://schemas.microsoft.com/office/drawing/2014/main" id="{0274AA7D-17FC-9C27-DDB4-19A8222CCF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alphaModFix amt="2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1999"/>
              <a:stretch/>
            </p:blipFill>
            <p:spPr>
              <a:xfrm>
                <a:off x="1713376" y="3128761"/>
                <a:ext cx="4563452" cy="310321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3" name="กล่องข้อความ 22">
                <a:extLst>
                  <a:ext uri="{FF2B5EF4-FFF2-40B4-BE49-F238E27FC236}">
                    <a16:creationId xmlns:a16="http://schemas.microsoft.com/office/drawing/2014/main" id="{FEE19513-5B97-DD89-99E3-0EF510118AED}"/>
                  </a:ext>
                </a:extLst>
              </p:cNvPr>
              <p:cNvSpPr txBox="1"/>
              <p:nvPr/>
            </p:nvSpPr>
            <p:spPr>
              <a:xfrm>
                <a:off x="218150" y="5540455"/>
                <a:ext cx="21933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สถานภาพสมาชิก	      </a:t>
                </a:r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 </a:t>
                </a:r>
                <a:endParaRPr lang="th-TH" sz="18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endParaRPr>
              </a:p>
              <a:p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สังกัด</a:t>
                </a:r>
              </a:p>
            </p:txBody>
          </p:sp>
          <p:cxnSp>
            <p:nvCxnSpPr>
              <p:cNvPr id="25" name="ตัวเชื่อมต่อตรง 24">
                <a:extLst>
                  <a:ext uri="{FF2B5EF4-FFF2-40B4-BE49-F238E27FC236}">
                    <a16:creationId xmlns:a16="http://schemas.microsoft.com/office/drawing/2014/main" id="{E662E751-008E-A46D-DF35-174CDF549A06}"/>
                  </a:ext>
                </a:extLst>
              </p:cNvPr>
              <p:cNvCxnSpPr/>
              <p:nvPr/>
            </p:nvCxnSpPr>
            <p:spPr>
              <a:xfrm>
                <a:off x="522949" y="4552672"/>
                <a:ext cx="5103845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2D3A49"/>
                    </a:gs>
                    <a:gs pos="54000">
                      <a:srgbClr val="0070C0"/>
                    </a:gs>
                    <a:gs pos="100000">
                      <a:srgbClr val="83161A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ตัวเชื่อมต่อตรง 25">
                <a:extLst>
                  <a:ext uri="{FF2B5EF4-FFF2-40B4-BE49-F238E27FC236}">
                    <a16:creationId xmlns:a16="http://schemas.microsoft.com/office/drawing/2014/main" id="{7BDDF17D-C9C9-499F-DD53-4AB6A72B3A58}"/>
                  </a:ext>
                </a:extLst>
              </p:cNvPr>
              <p:cNvCxnSpPr/>
              <p:nvPr/>
            </p:nvCxnSpPr>
            <p:spPr>
              <a:xfrm>
                <a:off x="513619" y="5159295"/>
                <a:ext cx="5103845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2D3A49"/>
                    </a:gs>
                    <a:gs pos="54000">
                      <a:srgbClr val="0070C0"/>
                    </a:gs>
                    <a:gs pos="100000">
                      <a:srgbClr val="83161A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กล่องข้อความ 26">
                <a:extLst>
                  <a:ext uri="{FF2B5EF4-FFF2-40B4-BE49-F238E27FC236}">
                    <a16:creationId xmlns:a16="http://schemas.microsoft.com/office/drawing/2014/main" id="{04C4B0AF-0D4D-8A31-6921-8E4047627175}"/>
                  </a:ext>
                </a:extLst>
              </p:cNvPr>
              <p:cNvSpPr txBox="1"/>
              <p:nvPr/>
            </p:nvSpPr>
            <p:spPr>
              <a:xfrm>
                <a:off x="4961953" y="2928706"/>
                <a:ext cx="8390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0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0925</a:t>
                </a:r>
              </a:p>
            </p:txBody>
          </p:sp>
          <p:sp>
            <p:nvSpPr>
              <p:cNvPr id="28" name="กล่องข้อความ 27">
                <a:extLst>
                  <a:ext uri="{FF2B5EF4-FFF2-40B4-BE49-F238E27FC236}">
                    <a16:creationId xmlns:a16="http://schemas.microsoft.com/office/drawing/2014/main" id="{38069463-AD37-E2E1-4BAC-41502D098E40}"/>
                  </a:ext>
                </a:extLst>
              </p:cNvPr>
              <p:cNvSpPr txBox="1"/>
              <p:nvPr/>
            </p:nvSpPr>
            <p:spPr>
              <a:xfrm>
                <a:off x="218149" y="4615076"/>
                <a:ext cx="56916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h-TH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จ.ต.ณัฐพน</a:t>
                </a:r>
                <a:r>
                  <a:rPr lang="th-TH" b="1" dirty="0" err="1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ธ์</a:t>
                </a:r>
                <a:r>
                  <a:rPr lang="th-TH" b="1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จินตบุตร</a:t>
                </a:r>
              </a:p>
            </p:txBody>
          </p:sp>
          <p:sp>
            <p:nvSpPr>
              <p:cNvPr id="31" name="กล่องข้อความ 30">
                <a:extLst>
                  <a:ext uri="{FF2B5EF4-FFF2-40B4-BE49-F238E27FC236}">
                    <a16:creationId xmlns:a16="http://schemas.microsoft.com/office/drawing/2014/main" id="{E3DF99DC-94F0-09A5-B351-6970CCC0341F}"/>
                  </a:ext>
                </a:extLst>
              </p:cNvPr>
              <p:cNvSpPr txBox="1"/>
              <p:nvPr/>
            </p:nvSpPr>
            <p:spPr>
              <a:xfrm>
                <a:off x="2411465" y="5529372"/>
                <a:ext cx="33894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: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ข้าราชการทหารอากาศ</a:t>
                </a:r>
                <a:endParaRPr lang="th-TH" sz="1600" dirty="0"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endParaRPr>
              </a:p>
              <a:p>
                <a:r>
                  <a:rPr lang="en-US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: 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 </a:t>
                </a:r>
                <a:r>
                  <a:rPr lang="th-TH" sz="1800" dirty="0" err="1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ศทย</a:t>
                </a:r>
                <a:r>
                  <a:rPr lang="th-TH" sz="1800" dirty="0">
                    <a:latin typeface="LINE Seed Sans TH App" panose="020B0303020203020204" pitchFamily="34" charset="-34"/>
                    <a:ea typeface="LINE Seed Sans TH App" panose="020B0303020203020204" pitchFamily="34" charset="-34"/>
                    <a:cs typeface="LINE Seed Sans TH App" panose="020B0303020203020204" pitchFamily="34" charset="-34"/>
                  </a:rPr>
                  <a:t>.อย.</a:t>
                </a:r>
              </a:p>
            </p:txBody>
          </p:sp>
        </p:grpSp>
        <p:pic>
          <p:nvPicPr>
            <p:cNvPr id="3" name="รูปภาพ 2">
              <a:extLst>
                <a:ext uri="{FF2B5EF4-FFF2-40B4-BE49-F238E27FC236}">
                  <a16:creationId xmlns:a16="http://schemas.microsoft.com/office/drawing/2014/main" id="{AD23D5C2-4726-594A-29F4-285BDAEC65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9" t="-587" r="7923" b="20910"/>
            <a:stretch/>
          </p:blipFill>
          <p:spPr>
            <a:xfrm>
              <a:off x="1935531" y="3240095"/>
              <a:ext cx="2256907" cy="12005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5058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ตัวเชื่อมต่อตรง 3">
            <a:extLst>
              <a:ext uri="{FF2B5EF4-FFF2-40B4-BE49-F238E27FC236}">
                <a16:creationId xmlns:a16="http://schemas.microsoft.com/office/drawing/2014/main" id="{D068EB84-4BE6-E596-3564-35F273D378A9}"/>
              </a:ext>
            </a:extLst>
          </p:cNvPr>
          <p:cNvCxnSpPr>
            <a:cxnSpLocks/>
          </p:cNvCxnSpPr>
          <p:nvPr/>
        </p:nvCxnSpPr>
        <p:spPr>
          <a:xfrm>
            <a:off x="548640" y="2502620"/>
            <a:ext cx="11364686" cy="0"/>
          </a:xfrm>
          <a:prstGeom prst="line">
            <a:avLst/>
          </a:prstGeom>
          <a:ln w="381000" cap="rnd">
            <a:gradFill flip="none" rotWithShape="1">
              <a:gsLst>
                <a:gs pos="0">
                  <a:srgbClr val="2D3A49"/>
                </a:gs>
                <a:gs pos="54000">
                  <a:srgbClr val="8497B0"/>
                </a:gs>
                <a:gs pos="100000">
                  <a:srgbClr val="83161A"/>
                </a:gs>
              </a:gsLst>
              <a:path path="shape">
                <a:fillToRect l="50000" t="50000" r="50000" b="50000"/>
              </a:path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5439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305</Words>
  <Application>Microsoft Office PowerPoint</Application>
  <PresentationFormat>แบบจอกว้าง</PresentationFormat>
  <Paragraphs>58</Paragraphs>
  <Slides>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7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LINE Seed Sans TH App</vt:lpstr>
      <vt:lpstr>LINE Seed Sans TH Heavy</vt:lpstr>
      <vt:lpstr>LINE Seed Sans TH Thin</vt:lpstr>
      <vt:lpstr>TH SarabunPSK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Natthapon Jintabut</dc:creator>
  <cp:lastModifiedBy>Natthapon Jintabut</cp:lastModifiedBy>
  <cp:revision>9</cp:revision>
  <dcterms:created xsi:type="dcterms:W3CDTF">2023-09-13T10:29:27Z</dcterms:created>
  <dcterms:modified xsi:type="dcterms:W3CDTF">2023-10-03T04:39:53Z</dcterms:modified>
</cp:coreProperties>
</file>